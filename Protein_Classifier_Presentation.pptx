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Accuracy by k-value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k=3</c:v>
                  </c:pt>
                  <c:pt idx="1">
                    <c:v>k=4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0.375</c:v>
                </c:pt>
                <c:pt idx="1">
                  <c:v>0.35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Protein Family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Classifier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FFFCB"/>
                </a:solidFill>
              </a:rPr>
              <a:t>CAI4704: AI in Bioinformatics — Project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32004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Mohamed Karim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Reg: 221010054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Yousef Abdallah Khamis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Reg: 221002152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457200"/>
            <a:ext cx="3108960" cy="4389120"/>
          </a:xfrm>
          <a:prstGeom prst="rect">
            <a:avLst/>
          </a:prstGeom>
          <a:solidFill>
            <a:srgbClr val="031D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594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What We Built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28346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k-mer (k=3) + RF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444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FFCB"/>
                </a:solidFill>
              </a:rPr>
              <a:t>Mohamed Karim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37.5% Acc.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28346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k-mer (k=4) + RF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6334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FFCB"/>
                </a:solidFill>
              </a:rPr>
              <a:t>Mohamed Karim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880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35.0% Acc.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474720"/>
            <a:ext cx="28346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BLAST Baseline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3822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FFCB"/>
                </a:solidFill>
              </a:rPr>
              <a:t>Yousef Khamis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4069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93.4% Acc.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0E1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FFCB"/>
                </a:solidFill>
              </a:rPr>
              <a:t>Dataset: UniProt Swiss-Prot — Homo sapiens — 4 Classes — 80/20 Split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&amp; Problem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FFCB"/>
                </a:solidFill>
              </a:rPr>
              <a:t>CAI4704 — AI in Bioinformatics  |  Project 1: Protein Family Classifier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0" y="16459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64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965960" cy="21945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960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Kinase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44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test samples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011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Phosphate transfer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Signaling enzymes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68680"/>
            <a:ext cx="1965960" cy="2194560"/>
          </a:xfrm>
          <a:prstGeom prst="rect">
            <a:avLst/>
          </a:prstGeom>
          <a:solidFill>
            <a:srgbClr val="117864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960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Protease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6888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52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test samples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011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Peptide hydrolysis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Digestion &amp; apoptosis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1965960" cy="2194560"/>
          </a:xfrm>
          <a:prstGeom prst="rect">
            <a:avLst/>
          </a:prstGeom>
          <a:solidFill>
            <a:srgbClr val="6E2F8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960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Receptor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49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test samples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2011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Signal transduction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Membrane proteins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868680"/>
            <a:ext cx="1965960" cy="2194560"/>
          </a:xfrm>
          <a:prstGeom prst="rect">
            <a:avLst/>
          </a:prstGeom>
          <a:solidFill>
            <a:srgbClr val="B7770D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960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Transporter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6656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55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test samples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011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Molecular transport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Membrane channels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200400"/>
            <a:ext cx="8503920" cy="141732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FFCB"/>
                </a:solidFill>
              </a:rPr>
              <a:t>Source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566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UniProt Swiss-Prot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(Reviewed only)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FFCB"/>
                </a:solidFill>
              </a:rPr>
              <a:t>Organism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3566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Homo sapiens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8620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FFCB"/>
                </a:solidFill>
              </a:rPr>
              <a:t>Seq Length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86200" y="3566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50–1,000 AA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FFCB"/>
                </a:solidFill>
              </a:rPr>
              <a:t>Split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3566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80% Train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20% Test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FFCB"/>
                </a:solidFill>
              </a:rPr>
              <a:t>Total Test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69480" y="3566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200 samples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k-mer + Random Forest —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FFCB"/>
                </a:solidFill>
              </a:rPr>
              <a:t>Mohamed Karim  |  Reg: 221010054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FFCB"/>
                </a:solidFill>
              </a:rPr>
              <a:t>CAI4704 — AI in Bioinformatics  |  Project 1: Protein Family Classifier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16459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64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868680"/>
            <a:ext cx="4114800" cy="37947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 k-mers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6276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Sliding window of size k=3 or k=4 over each amino acid sequence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19456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Vocabulary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4048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Count all k-mers across training set → select top 1,000 most frequent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97180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Vectorize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1821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Each sequence → frequency vector of shape (N, 1000)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74904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 RF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9593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Random Forest: 100 trees, majority vote classification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868680"/>
            <a:ext cx="4206240" cy="3794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FFCB"/>
                </a:solidFill>
              </a:rPr>
              <a:t>k=3 Extraction Code</a:t>
            </a:r>
            <a:endParaRPr lang="en-US" sz="1000" dirty="0"/>
          </a:p>
        </p:txBody>
      </p:sp>
      <p:pic>
        <p:nvPicPr>
          <p:cNvPr id="29" name="Image 0" descr="/home/claude/imgs/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80723"/>
            <a:ext cx="4069080" cy="27444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k-mer (k=3) + Random Forest —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FFCB"/>
                </a:solidFill>
              </a:rPr>
              <a:t>Mohamed Karim  |  Reg: 221010054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FFCB"/>
                </a:solidFill>
              </a:rPr>
              <a:t>CAI4704 — AI in Bioinformatics  |  Project 1: Protein Family Classifier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16459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64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1371600" cy="640080"/>
          </a:xfrm>
          <a:prstGeom prst="rect">
            <a:avLst/>
          </a:prstGeom>
          <a:solidFill>
            <a:srgbClr val="021B2E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822960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FFCB"/>
                </a:solidFill>
              </a:rPr>
              <a:t>37.5%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822960"/>
            <a:ext cx="1371600" cy="640080"/>
          </a:xfrm>
          <a:prstGeom prst="rect">
            <a:avLst/>
          </a:prstGeom>
          <a:solidFill>
            <a:srgbClr val="021B2E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822960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FFCB"/>
                </a:solidFill>
              </a:rPr>
              <a:t>0.37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Macro F1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822960"/>
            <a:ext cx="1645920" cy="640080"/>
          </a:xfrm>
          <a:prstGeom prst="rect">
            <a:avLst/>
          </a:prstGeom>
          <a:solidFill>
            <a:srgbClr val="021B2E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822960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FFCB"/>
                </a:solidFill>
              </a:rPr>
              <a:t>Transporter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1143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Best Class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822960"/>
            <a:ext cx="1645920" cy="640080"/>
          </a:xfrm>
          <a:prstGeom prst="rect">
            <a:avLst/>
          </a:prstGeom>
          <a:solidFill>
            <a:srgbClr val="021B2E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822960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FFCB"/>
                </a:solidFill>
              </a:rPr>
              <a:t>Kinase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0640" y="1143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Hardest Class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Classification Report</a:t>
            </a:r>
            <a:endParaRPr lang="en-US" sz="1100" dirty="0"/>
          </a:p>
        </p:txBody>
      </p:sp>
      <p:pic>
        <p:nvPicPr>
          <p:cNvPr id="22" name="Image 0" descr="/home/claude/imgs/im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755" y="1828800"/>
            <a:ext cx="2967371" cy="2743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75488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Confusion Matrix</a:t>
            </a:r>
            <a:endParaRPr lang="en-US" sz="1100" dirty="0"/>
          </a:p>
        </p:txBody>
      </p:sp>
      <p:pic>
        <p:nvPicPr>
          <p:cNvPr id="24" name="Image 1" descr="/home/claude/imgs/img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112" y="1828800"/>
            <a:ext cx="1952617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k-mer (k=4) + Random Forest —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FFCB"/>
                </a:solidFill>
              </a:rPr>
              <a:t>Mohamed Karim  |  Reg: 221010054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FFCB"/>
                </a:solidFill>
              </a:rPr>
              <a:t>CAI4704 — AI in Bioinformatics  |  Project 1: Protein Family Classifier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16459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64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1371600" cy="640080"/>
          </a:xfrm>
          <a:prstGeom prst="rect">
            <a:avLst/>
          </a:prstGeom>
          <a:solidFill>
            <a:srgbClr val="021B2E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822960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FFCB"/>
                </a:solidFill>
              </a:rPr>
              <a:t>35.0%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822960"/>
            <a:ext cx="1371600" cy="640080"/>
          </a:xfrm>
          <a:prstGeom prst="rect">
            <a:avLst/>
          </a:prstGeom>
          <a:solidFill>
            <a:srgbClr val="021B2E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822960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FFCB"/>
                </a:solidFill>
              </a:rPr>
              <a:t>0.34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Macro F1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822960"/>
            <a:ext cx="1645920" cy="640080"/>
          </a:xfrm>
          <a:prstGeom prst="rect">
            <a:avLst/>
          </a:prstGeom>
          <a:solidFill>
            <a:srgbClr val="021B2E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822960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FFCB"/>
                </a:solidFill>
              </a:rPr>
              <a:t>Transporter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1143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Best Class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822960"/>
            <a:ext cx="1645920" cy="640080"/>
          </a:xfrm>
          <a:prstGeom prst="rect">
            <a:avLst/>
          </a:prstGeom>
          <a:solidFill>
            <a:srgbClr val="021B2E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822960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FFCB"/>
                </a:solidFill>
              </a:rPr>
              <a:t>Receptor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0640" y="1143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Hardest Class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Classification Report</a:t>
            </a:r>
            <a:endParaRPr lang="en-US" sz="1100" dirty="0"/>
          </a:p>
        </p:txBody>
      </p:sp>
      <p:pic>
        <p:nvPicPr>
          <p:cNvPr id="22" name="Image 0" descr="/home/claude/imgs/img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071" y="1828800"/>
            <a:ext cx="1924737" cy="2743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75488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Confusion Matrix</a:t>
            </a:r>
            <a:endParaRPr lang="en-US" sz="1100" dirty="0"/>
          </a:p>
        </p:txBody>
      </p:sp>
      <p:pic>
        <p:nvPicPr>
          <p:cNvPr id="24" name="Image 1" descr="/home/claude/imgs/img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475" y="1828800"/>
            <a:ext cx="358588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k=3 vs k=4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FFCB"/>
                </a:solidFill>
              </a:rPr>
              <a:t>Mohamed Karim  |  Reg: 221010054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FFCB"/>
                </a:solidFill>
              </a:rPr>
              <a:t>CAI4704 — AI in Bioinformatics  |  Project 1: Protein Family Classifier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16459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64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B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868680"/>
          <a:ext cx="4572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120640" y="868680"/>
            <a:ext cx="3703320" cy="374904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11" name="Text 8"/>
          <p:cNvSpPr/>
          <p:nvPr/>
        </p:nvSpPr>
        <p:spPr>
          <a:xfrm>
            <a:off x="5257800" y="960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FFCB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57800" y="13716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k=3 outperforms k=4 (37.5% vs 35.0%)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57800" y="19659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Larger tetra-mer vocabulary (160K possible) means top 1,000 cover less of the feature space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257800" y="2560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Tetra-mers are sparser per sequence → less training signal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257800" y="31546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Transporter is easiest class in both models (distinctive hydrophobic TM helices)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57800" y="37490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Kinase ↔ Receptor confusion in both — biologically expected (receptor tyrosine kinases)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BLAST Baseline —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FFCB"/>
                </a:solidFill>
              </a:rPr>
              <a:t>Yousef Abdallah Khamis  |  Reg: 221002152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FFCB"/>
                </a:solidFill>
              </a:rPr>
              <a:t>CAI4704 — AI in Bioinformatics  |  Project 1: Protein Family Classifier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75120" y="164592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17864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868680"/>
            <a:ext cx="4114800" cy="37947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978408"/>
            <a:ext cx="301752" cy="301752"/>
          </a:xfrm>
          <a:prstGeom prst="ellipse">
            <a:avLst/>
          </a:prstGeom>
          <a:solidFill>
            <a:srgbClr val="11786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9784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932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Acquisition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11795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Download sequences per family from UniProt (200/family, Homo sapiens, reviewed)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554480"/>
            <a:ext cx="301752" cy="301752"/>
          </a:xfrm>
          <a:prstGeom prst="ellipse">
            <a:avLst/>
          </a:prstGeom>
          <a:solidFill>
            <a:srgbClr val="11786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55448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1508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Preprocessing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1755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Filter by length (50–1,000 AA), 80/20 stratified split → 531 train / 133 test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130552"/>
            <a:ext cx="301752" cy="301752"/>
          </a:xfrm>
          <a:prstGeom prst="ellipse">
            <a:avLst/>
          </a:prstGeom>
          <a:solidFill>
            <a:srgbClr val="117864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1305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084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FASTA Export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Export training sequences with label-embedded headers (&gt;accession|family)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706624"/>
            <a:ext cx="301752" cy="301752"/>
          </a:xfrm>
          <a:prstGeom prst="ellipse">
            <a:avLst/>
          </a:prstGeom>
          <a:solidFill>
            <a:srgbClr val="117864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70662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2660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Build DB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2907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NCBI BLAST+: makeblastdb -dbtype prot — creates searchable protein database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282696"/>
            <a:ext cx="301752" cy="301752"/>
          </a:xfrm>
          <a:prstGeom prst="ellipse">
            <a:avLst/>
          </a:prstGeom>
          <a:solidFill>
            <a:srgbClr val="117864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2826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3236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Run blastp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34838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-outfmt 6, -max_target_seqs 1, -evalue 0.001 → 1-nearest-neighbor classification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858768"/>
            <a:ext cx="301752" cy="301752"/>
          </a:xfrm>
          <a:prstGeom prst="ellipse">
            <a:avLst/>
          </a:prstGeom>
          <a:solidFill>
            <a:srgbClr val="117864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8587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3813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Evaluate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40599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Match rate check → accuracy on matched sequences only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7720" y="8686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Data Acquisition</a:t>
            </a:r>
            <a:endParaRPr lang="en-US" sz="1000" dirty="0"/>
          </a:p>
        </p:txBody>
      </p:sp>
      <p:pic>
        <p:nvPicPr>
          <p:cNvPr id="35" name="Image 0" descr="/home/claude/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6836" y="1143000"/>
            <a:ext cx="1768007" cy="15544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617720" y="28346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Preprocessing &amp; Split</a:t>
            </a:r>
            <a:endParaRPr lang="en-US" sz="1000" dirty="0"/>
          </a:p>
        </p:txBody>
      </p:sp>
      <p:pic>
        <p:nvPicPr>
          <p:cNvPr id="37" name="Image 1" descr="/home/claude/media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582" y="3108960"/>
            <a:ext cx="2348515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BLAST Baseline —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FFCB"/>
                </a:solidFill>
              </a:rPr>
              <a:t>Yousef Abdallah Khamis  |  Reg: 221002152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FFCB"/>
                </a:solidFill>
              </a:rPr>
              <a:t>CAI4704 — AI in Bioinformatics  |  Project 1: Protein Family Classifier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75120" y="164592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17864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1554480" cy="685800"/>
          </a:xfrm>
          <a:prstGeom prst="rect">
            <a:avLst/>
          </a:prstGeom>
          <a:solidFill>
            <a:srgbClr val="0A3D2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FFCB"/>
                </a:solidFill>
              </a:rPr>
              <a:t>93.4%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822960"/>
            <a:ext cx="1554480" cy="685800"/>
          </a:xfrm>
          <a:prstGeom prst="rect">
            <a:avLst/>
          </a:prstGeom>
          <a:solidFill>
            <a:srgbClr val="0A3D2B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FFCB"/>
                </a:solidFill>
              </a:rPr>
              <a:t>79.7%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Match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03320" y="822960"/>
            <a:ext cx="1554480" cy="685800"/>
          </a:xfrm>
          <a:prstGeom prst="rect">
            <a:avLst/>
          </a:prstGeom>
          <a:solidFill>
            <a:srgbClr val="0A3D2B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FFCB"/>
                </a:solidFill>
              </a:rPr>
              <a:t>0.925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0332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Macro Precision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16276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FASTA Export</a:t>
            </a:r>
            <a:endParaRPr lang="en-US" sz="1000" dirty="0"/>
          </a:p>
        </p:txBody>
      </p:sp>
      <p:pic>
        <p:nvPicPr>
          <p:cNvPr id="19" name="Image 0" descr="/home/claude/media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149" y="1901952"/>
            <a:ext cx="1590023" cy="1371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20040" y="34015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BLAST Search &amp; Evaluation</a:t>
            </a:r>
            <a:endParaRPr lang="en-US" sz="1000" dirty="0"/>
          </a:p>
        </p:txBody>
      </p:sp>
      <p:pic>
        <p:nvPicPr>
          <p:cNvPr id="21" name="Image 1" descr="/home/claude/media/image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141" y="3657600"/>
            <a:ext cx="1386038" cy="10058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63440" y="8229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BLAST Evaluation Output</a:t>
            </a:r>
            <a:endParaRPr lang="en-US" sz="1000" dirty="0"/>
          </a:p>
        </p:txBody>
      </p:sp>
      <p:pic>
        <p:nvPicPr>
          <p:cNvPr id="23" name="Image 2" descr="/home/claude/media/image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00466"/>
            <a:ext cx="4160520" cy="28512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Comparison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FFCB"/>
                </a:solidFill>
              </a:rPr>
              <a:t>CAI4704 — AI in Bioinformatics  |  Project 1: Protein Family Classifier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0" y="16459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64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1920240"/>
        </p:xfrm>
        <a:graphic>
          <a:graphicData uri="http://schemas.openxmlformats.org/drawingml/2006/table">
            <a:tbl>
              <a:tblPr/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Class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k-mer (k=3) + RF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37.5%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Transporter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k-mer (k=4) + RF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35.0%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Transporter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BLAST 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7864"/>
                          </a:solidFill>
                        </a:rPr>
                        <a:t>93.4%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7864"/>
                          </a:solidFill>
                        </a:rPr>
                        <a:t>0.93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All classes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79.7%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2907792"/>
            <a:ext cx="8503920" cy="1755648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FFCB"/>
                </a:solidFill>
              </a:rPr>
              <a:t>Discussion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3101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BLAST dominates (93.4%) — conserved motifs (P-loop, active-site triad, TM helices) are reliably detected by homology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3639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FFCB"/>
                </a:solidFill>
              </a:rPr>
              <a:t>▸  BLAST limitation: 20.3% unmatched — novel sequences with no database hit remain unclassified → k-mer as fallback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39684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k-mer above random baseline (25%) → useful signal; k=3 &gt; k=4 due to vocabulary sparsity of tetra-mers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4297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Hybrid approach: BLAST for high-confidence + k-mer for unmatched sequences — best of both worlds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solidFill>
            <a:srgbClr val="031D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🏆  BLAST wins: 93.4% accuracy on matched sequences — conserved motifs make homology search highly effective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8229600" cy="594360"/>
          </a:xfrm>
          <a:prstGeom prst="rect">
            <a:avLst/>
          </a:prstGeom>
          <a:solidFill>
            <a:srgbClr val="042A4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📊  k-mer (k=3) best ML: 37.5% accuracy — above 25% random baseline, 100% sequence coverage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51176"/>
            <a:ext cx="8229600" cy="594360"/>
          </a:xfrm>
          <a:prstGeom prst="rect">
            <a:avLst/>
          </a:prstGeom>
          <a:solidFill>
            <a:srgbClr val="031D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🔬  k=3 &gt; k=4: tri-mer vocabulary better matches top-1000 feature selection constraints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042A4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8269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⚠️  BLAST gap: 20.3% sequences unmatched — k-mer model can classify these novel proteins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959352"/>
            <a:ext cx="8229600" cy="594360"/>
          </a:xfrm>
          <a:prstGeom prst="rect">
            <a:avLst/>
          </a:prstGeom>
          <a:solidFill>
            <a:srgbClr val="03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8678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🚀  Future: Hybrid BLAST + k-mer fallback, or protein language models (ESM-2) for better generalization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FFCB"/>
                </a:solidFill>
              </a:rPr>
              <a:t>Mohamed Karim — 221010054  |  Yousef Abdallah Khamis — 221002152  |  CAI4704 Group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Protein Family Classifier</dc:title>
  <dc:subject>PptxGenJS Presentation</dc:subject>
  <dc:creator>PptxGenJS</dc:creator>
  <cp:lastModifiedBy>PptxGenJS</cp:lastModifiedBy>
  <cp:revision>1</cp:revision>
  <dcterms:created xsi:type="dcterms:W3CDTF">2026-06-02T02:19:08Z</dcterms:created>
  <dcterms:modified xsi:type="dcterms:W3CDTF">2026-06-02T02:19:08Z</dcterms:modified>
</cp:coreProperties>
</file>